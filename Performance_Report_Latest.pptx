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5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33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title>
      <c:layout/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Failure Rate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Login</c:v>
                </c:pt>
                <c:pt idx="1">
                  <c:v>Registration</c:v>
                </c:pt>
                <c:pt idx="2">
                  <c:v>File Upload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36.700000000000003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72351128"/>
        <c:axId val="272351520"/>
      </c:barChart>
      <c:catAx>
        <c:axId val="27235112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72351520"/>
        <c:crosses val="autoZero"/>
        <c:auto val="1"/>
        <c:lblAlgn val="ctr"/>
        <c:lblOffset val="100"/>
        <c:noMultiLvlLbl val="0"/>
      </c:catAx>
      <c:valAx>
        <c:axId val="27235152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272351128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title>
      <c:layout/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P99 Latency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Login</c:v>
                </c:pt>
                <c:pt idx="1">
                  <c:v>Registration</c:v>
                </c:pt>
                <c:pt idx="2">
                  <c:v>File Upload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1.2</c:v>
                </c:pt>
                <c:pt idx="1">
                  <c:v>1.4</c:v>
                </c:pt>
                <c:pt idx="2">
                  <c:v>9.6999999999999993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72349952"/>
        <c:axId val="272355440"/>
      </c:barChart>
      <c:catAx>
        <c:axId val="2723499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72355440"/>
        <c:crosses val="autoZero"/>
        <c:auto val="1"/>
        <c:lblAlgn val="ctr"/>
        <c:lblOffset val="100"/>
        <c:noMultiLvlLbl val="0"/>
      </c:catAx>
      <c:valAx>
        <c:axId val="27235544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272349952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title>
      <c:layout/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TPS</c:v>
                </c:pt>
              </c:strCache>
            </c:strRef>
          </c:tx>
          <c:invertIfNegative val="1"/>
          <c:cat>
            <c:strRef>
              <c:f>Sheet1!$A$2:$A$3</c:f>
              <c:strCache>
                <c:ptCount val="2"/>
                <c:pt idx="0">
                  <c:v>Overall</c:v>
                </c:pt>
                <c:pt idx="1">
                  <c:v>File Upload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</c:v>
                </c:pt>
                <c:pt idx="1">
                  <c:v>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72349168"/>
        <c:axId val="272355048"/>
      </c:barChart>
      <c:catAx>
        <c:axId val="27234916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72355048"/>
        <c:crosses val="autoZero"/>
        <c:auto val="1"/>
        <c:lblAlgn val="ctr"/>
        <c:lblOffset val="100"/>
        <c:noMultiLvlLbl val="0"/>
      </c:catAx>
      <c:valAx>
        <c:axId val="272355048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272349168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 dirty="0"/>
              <a:t>Performance Test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 smtClean="0"/>
              <a:t>View</a:t>
            </a:r>
            <a:r>
              <a:rPr dirty="0"/>
              <a:t>: Login, Registration &amp; File Upload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67760"/>
            <a:ext cx="8229600" cy="1143000"/>
          </a:xfrm>
        </p:spPr>
        <p:txBody>
          <a:bodyPr/>
          <a:lstStyle/>
          <a:p>
            <a:pPr algn="l"/>
            <a:r>
              <a:rPr b="1" i="1" dirty="0" smtClean="0"/>
              <a:t>Summary</a:t>
            </a:r>
            <a:endParaRPr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10760"/>
            <a:ext cx="8229600" cy="4815403"/>
          </a:xfrm>
        </p:spPr>
        <p:txBody>
          <a:bodyPr>
            <a:normAutofit/>
          </a:bodyPr>
          <a:lstStyle/>
          <a:p>
            <a:r>
              <a:rPr sz="1800" dirty="0"/>
              <a:t>Login &amp; Registration scale reliably up to 1000 concurrent users</a:t>
            </a:r>
          </a:p>
          <a:p>
            <a:r>
              <a:rPr sz="1800" dirty="0"/>
              <a:t>File Upload is the primary bottleneck impacting user experience</a:t>
            </a:r>
          </a:p>
          <a:p>
            <a:r>
              <a:rPr sz="1800" dirty="0"/>
              <a:t>High failure rate and tail latency pose product risk</a:t>
            </a:r>
          </a:p>
          <a:p>
            <a:r>
              <a:rPr sz="1800" dirty="0"/>
              <a:t>Optimization required before scaling usage further</a:t>
            </a:r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73466866"/>
              </p:ext>
            </p:extLst>
          </p:nvPr>
        </p:nvGraphicFramePr>
        <p:xfrm>
          <a:off x="307722" y="2789554"/>
          <a:ext cx="8717526" cy="31171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1043"/>
                <a:gridCol w="1859078"/>
                <a:gridCol w="2434987"/>
                <a:gridCol w="3432418"/>
              </a:tblGrid>
              <a:tr h="554649">
                <a:tc>
                  <a:txBody>
                    <a:bodyPr/>
                    <a:lstStyle/>
                    <a:p>
                      <a:r>
                        <a:rPr lang="en-US" dirty="0" smtClean="0"/>
                        <a:t>User Load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Run 1</a:t>
                      </a:r>
                    </a:p>
                    <a:p>
                      <a:r>
                        <a:rPr lang="en-US" dirty="0" smtClean="0"/>
                        <a:t>(Evening 17</a:t>
                      </a:r>
                      <a:r>
                        <a:rPr lang="en-US" baseline="30000" dirty="0" smtClean="0"/>
                        <a:t>th</a:t>
                      </a:r>
                      <a:r>
                        <a:rPr lang="en-US" dirty="0" smtClean="0"/>
                        <a:t> Jan 26)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Run 2</a:t>
                      </a:r>
                    </a:p>
                    <a:p>
                      <a:r>
                        <a:rPr lang="en-US" dirty="0" smtClean="0"/>
                        <a:t>(Morning 19</a:t>
                      </a:r>
                      <a:r>
                        <a:rPr lang="en-US" baseline="30000" dirty="0" smtClean="0"/>
                        <a:t>th</a:t>
                      </a:r>
                      <a:r>
                        <a:rPr lang="en-US" dirty="0" smtClean="0"/>
                        <a:t> Jan 26)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Run 3 </a:t>
                      </a:r>
                    </a:p>
                    <a:p>
                      <a:r>
                        <a:rPr lang="en-US" dirty="0" smtClean="0"/>
                        <a:t>(</a:t>
                      </a:r>
                      <a:r>
                        <a:rPr lang="en-US" baseline="0" dirty="0" smtClean="0"/>
                        <a:t>Morning 21</a:t>
                      </a:r>
                      <a:r>
                        <a:rPr lang="en-US" baseline="30000" dirty="0" smtClean="0"/>
                        <a:t>st</a:t>
                      </a:r>
                      <a:r>
                        <a:rPr lang="en-US" baseline="0" dirty="0" smtClean="0"/>
                        <a:t> Jan 26)</a:t>
                      </a:r>
                      <a:endParaRPr lang="en-IN" dirty="0"/>
                    </a:p>
                  </a:txBody>
                  <a:tcPr/>
                </a:tc>
              </a:tr>
              <a:tr h="316943">
                <a:tc>
                  <a:txBody>
                    <a:bodyPr/>
                    <a:lstStyle/>
                    <a:p>
                      <a:r>
                        <a:rPr lang="en-US" dirty="0" smtClean="0"/>
                        <a:t>50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 Errors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 Errors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</a:t>
                      </a:r>
                      <a:r>
                        <a:rPr lang="en-US" baseline="0" dirty="0" smtClean="0"/>
                        <a:t> Errors</a:t>
                      </a:r>
                      <a:endParaRPr lang="en-IN" dirty="0"/>
                    </a:p>
                  </a:txBody>
                  <a:tcPr/>
                </a:tc>
              </a:tr>
              <a:tr h="316943">
                <a:tc>
                  <a:txBody>
                    <a:bodyPr/>
                    <a:lstStyle/>
                    <a:p>
                      <a:r>
                        <a:rPr lang="en-US" dirty="0" smtClean="0"/>
                        <a:t>100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No Errors</a:t>
                      </a:r>
                      <a:endParaRPr lang="en-IN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 Errors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 Errors</a:t>
                      </a:r>
                      <a:endParaRPr lang="en-IN" dirty="0"/>
                    </a:p>
                  </a:txBody>
                  <a:tcPr/>
                </a:tc>
              </a:tr>
              <a:tr h="735591">
                <a:tc>
                  <a:txBody>
                    <a:bodyPr/>
                    <a:lstStyle/>
                    <a:p>
                      <a:r>
                        <a:rPr lang="en-US" dirty="0" smtClean="0"/>
                        <a:t>500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No Errors</a:t>
                      </a:r>
                      <a:endParaRPr lang="en-IN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Error 500 (161</a:t>
                      </a:r>
                      <a:r>
                        <a:rPr lang="en-US" baseline="0" dirty="0" smtClean="0"/>
                        <a:t> uploads)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Error 500 (The script stops at 496), had to stop the execution</a:t>
                      </a:r>
                      <a:endParaRPr lang="en-IN" dirty="0"/>
                    </a:p>
                  </a:txBody>
                  <a:tcPr/>
                </a:tc>
              </a:tr>
              <a:tr h="735591">
                <a:tc>
                  <a:txBody>
                    <a:bodyPr/>
                    <a:lstStyle/>
                    <a:p>
                      <a:r>
                        <a:rPr lang="en-US" dirty="0" smtClean="0"/>
                        <a:t>1000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No Errors</a:t>
                      </a:r>
                      <a:endParaRPr lang="en-IN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Error 500 (367 uploads)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Error 500 (The script stops at 996), had to stop the execution</a:t>
                      </a:r>
                      <a:endParaRPr lang="en-IN" dirty="0" smtClean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sz="4000" b="1" dirty="0"/>
              <a:t>Test Scope &amp;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Load levels: 5, 50, 100, 500, 1000 concurrent users</a:t>
            </a:r>
          </a:p>
          <a:p>
            <a:r>
              <a:rPr sz="2000" dirty="0"/>
              <a:t>Test windows: </a:t>
            </a:r>
            <a:r>
              <a:rPr lang="en-US" sz="2000" dirty="0" smtClean="0"/>
              <a:t>Weekdays and Weekends</a:t>
            </a:r>
            <a:endParaRPr sz="2000" dirty="0"/>
          </a:p>
          <a:p>
            <a:r>
              <a:rPr sz="2000" dirty="0"/>
              <a:t>Focus journeys: Login, Registration, Resume Upload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i="1" dirty="0"/>
              <a:t>Issues Identified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708525"/>
          </a:xfrm>
        </p:spPr>
        <p:txBody>
          <a:bodyPr>
            <a:normAutofit fontScale="62500" lnSpcReduction="20000"/>
          </a:bodyPr>
          <a:lstStyle/>
          <a:p>
            <a:r>
              <a:rPr lang="en-US" sz="3600" dirty="0"/>
              <a:t>File Upload bottleneck under high load</a:t>
            </a:r>
          </a:p>
          <a:p>
            <a:r>
              <a:rPr lang="en-US" sz="3600" dirty="0"/>
              <a:t>Error 500 observed for 500+ users - </a:t>
            </a:r>
            <a:r>
              <a:rPr lang="en-US" dirty="0"/>
              <a:t>file uploads began failing intermittently once the system crossed ~200 uploads. The failures were not continuous but appeared sporadically, returning HTTP 500 errors.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	The error message indicates a Neo4j memory pool </a:t>
            </a:r>
            <a:r>
              <a:rPr lang="en-US" dirty="0" err="1">
                <a:solidFill>
                  <a:srgbClr val="FF0000"/>
                </a:solidFill>
              </a:rPr>
              <a:t>exhaustionException</a:t>
            </a:r>
            <a:r>
              <a:rPr lang="en-US" dirty="0">
                <a:solidFill>
                  <a:srgbClr val="FF0000"/>
                </a:solidFill>
              </a:rPr>
              <a:t> Occurred while generating API Response:{code: </a:t>
            </a:r>
            <a:r>
              <a:rPr lang="en-US" dirty="0" err="1">
                <a:solidFill>
                  <a:srgbClr val="FF0000"/>
                </a:solidFill>
              </a:rPr>
              <a:t>Neo.TransientError.General.MemoryPoolOutOfMemoryError</a:t>
            </a:r>
            <a:r>
              <a:rPr lang="en-US" dirty="0">
                <a:solidFill>
                  <a:srgbClr val="FF0000"/>
                </a:solidFill>
              </a:rPr>
              <a:t>}{message: The allocation of an extra 2.0 </a:t>
            </a:r>
            <a:r>
              <a:rPr lang="en-US" dirty="0" err="1">
                <a:solidFill>
                  <a:srgbClr val="FF0000"/>
                </a:solidFill>
              </a:rPr>
              <a:t>MiB</a:t>
            </a:r>
            <a:r>
              <a:rPr lang="en-US" dirty="0">
                <a:solidFill>
                  <a:srgbClr val="FF0000"/>
                </a:solidFill>
              </a:rPr>
              <a:t> would exceed the limit of 250.0 </a:t>
            </a:r>
            <a:r>
              <a:rPr lang="en-US" dirty="0" err="1">
                <a:solidFill>
                  <a:srgbClr val="FF0000"/>
                </a:solidFill>
              </a:rPr>
              <a:t>MiB</a:t>
            </a:r>
            <a:r>
              <a:rPr lang="en-US" dirty="0">
                <a:solidFill>
                  <a:srgbClr val="FF0000"/>
                </a:solidFill>
              </a:rPr>
              <a:t>. Currently using 250.0 </a:t>
            </a:r>
            <a:r>
              <a:rPr lang="en-US" dirty="0" err="1">
                <a:solidFill>
                  <a:srgbClr val="FF0000"/>
                </a:solidFill>
              </a:rPr>
              <a:t>MiB</a:t>
            </a:r>
            <a:r>
              <a:rPr lang="en-US" dirty="0">
                <a:solidFill>
                  <a:srgbClr val="FF0000"/>
                </a:solidFill>
              </a:rPr>
              <a:t>. </a:t>
            </a:r>
            <a:r>
              <a:rPr lang="en-US" dirty="0" err="1">
                <a:solidFill>
                  <a:srgbClr val="FF0000"/>
                </a:solidFill>
              </a:rPr>
              <a:t>dbms.memory.transaction.total.max</a:t>
            </a:r>
            <a:r>
              <a:rPr lang="en-US" dirty="0">
                <a:solidFill>
                  <a:srgbClr val="FF0000"/>
                </a:solidFill>
              </a:rPr>
              <a:t> threshold reached}The same behavior was observed during the 1000-user test, where uploads started failing around the 200-user mark with identical error. </a:t>
            </a:r>
          </a:p>
          <a:p>
            <a:r>
              <a:rPr lang="en-US" sz="3600" dirty="0"/>
              <a:t>Tail latency affects user experience</a:t>
            </a:r>
          </a:p>
          <a:p>
            <a:r>
              <a:rPr lang="en-US" sz="3600" dirty="0"/>
              <a:t>Upload script halted at 496 and 996 uploads (500 and 1000-user test) </a:t>
            </a:r>
            <a:r>
              <a:rPr lang="en-US" dirty="0"/>
              <a:t>- </a:t>
            </a:r>
            <a:r>
              <a:rPr lang="en-US" dirty="0">
                <a:solidFill>
                  <a:srgbClr val="FF0000"/>
                </a:solidFill>
              </a:rPr>
              <a:t>Test is not reaching full concurrency because a small number of threads are failing or exiting prematurely.</a:t>
            </a: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891450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Error Rate by Feature (%)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99th Percentile Response Time (sec)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Throughput (Transactions / sec)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b="1" i="1" dirty="0"/>
              <a:t>Infrastructure Health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CPU usage remained below 70% (peak ~40%)</a:t>
            </a:r>
          </a:p>
          <a:p>
            <a:r>
              <a:rPr sz="2000" dirty="0"/>
              <a:t>Memory usage stable below 200 MB</a:t>
            </a:r>
          </a:p>
          <a:p>
            <a:r>
              <a:rPr sz="2000" dirty="0"/>
              <a:t>No memory leaks or crashes observed</a:t>
            </a:r>
          </a:p>
          <a:p>
            <a:r>
              <a:rPr sz="2000" dirty="0" smtClean="0"/>
              <a:t>Indicates </a:t>
            </a:r>
            <a:r>
              <a:rPr sz="2000" dirty="0"/>
              <a:t>backend capacity exists — issue is functional, not </a:t>
            </a:r>
            <a:r>
              <a:rPr sz="2000" dirty="0" smtClean="0"/>
              <a:t>infra</a:t>
            </a:r>
            <a:endParaRPr lang="en-US" sz="2000" dirty="0" smtClean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App Response Time Trends</a:t>
            </a:r>
            <a:r>
              <a:rPr lang="en-US" sz="2000" dirty="0"/>
              <a:t>:</a:t>
            </a:r>
          </a:p>
          <a:p>
            <a:pPr marL="0" indent="0">
              <a:buNone/>
            </a:pPr>
            <a:endParaRPr sz="2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4106" y="3429000"/>
            <a:ext cx="2847079" cy="195698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b="1" i="1" dirty="0"/>
              <a:t>Product Impact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/>
              <a:t>Most users complete uploads successfully</a:t>
            </a:r>
          </a:p>
          <a:p>
            <a:r>
              <a:rPr sz="2800" dirty="0"/>
              <a:t>However, ~1 in 3 upload attempts fail at peak load</a:t>
            </a:r>
          </a:p>
          <a:p>
            <a:r>
              <a:rPr sz="2800" dirty="0"/>
              <a:t>Slow tail experiences risk user frustration &amp; abandonment</a:t>
            </a:r>
          </a:p>
          <a:p>
            <a:r>
              <a:rPr sz="2800" dirty="0"/>
              <a:t>Resume upload is a critical funnel step — high business impact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b="1" i="1" dirty="0"/>
              <a:t>Recommended Next 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/>
              <a:t>Investigate upload failures (Error 500) at 500–1000 users</a:t>
            </a:r>
          </a:p>
          <a:p>
            <a:r>
              <a:rPr sz="2800" dirty="0"/>
              <a:t>Optimize upload pipeline (</a:t>
            </a:r>
            <a:r>
              <a:rPr sz="2800" dirty="0" err="1"/>
              <a:t>async</a:t>
            </a:r>
            <a:r>
              <a:rPr sz="2800" dirty="0"/>
              <a:t> processing, chunking, retries)</a:t>
            </a:r>
          </a:p>
          <a:p>
            <a:r>
              <a:rPr sz="2800" dirty="0"/>
              <a:t>Define acceptable SLA for upload latency &amp; throughput</a:t>
            </a:r>
          </a:p>
          <a:p>
            <a:r>
              <a:rPr sz="2800" dirty="0"/>
              <a:t>Re-test post-fix before user scale-up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348</Words>
  <Application>Microsoft Office PowerPoint</Application>
  <PresentationFormat>On-screen Show (4:3)</PresentationFormat>
  <Paragraphs>63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Performance Test Summary</vt:lpstr>
      <vt:lpstr>Summary</vt:lpstr>
      <vt:lpstr>Test Scope &amp; Setup</vt:lpstr>
      <vt:lpstr>Issues Identified</vt:lpstr>
      <vt:lpstr>Error Rate by Feature (%)</vt:lpstr>
      <vt:lpstr>99th Percentile Response Time (sec)</vt:lpstr>
      <vt:lpstr>Throughput (Transactions / sec)</vt:lpstr>
      <vt:lpstr>Infrastructure Health</vt:lpstr>
      <vt:lpstr>Product Impact Assessment</vt:lpstr>
      <vt:lpstr>Recommended Next Actions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Performance Test Summary</dc:title>
  <dc:subject/>
  <dc:creator/>
  <cp:keywords/>
  <dc:description>generated using python-pptx</dc:description>
  <cp:lastModifiedBy>Sowmya</cp:lastModifiedBy>
  <cp:revision>3</cp:revision>
  <dcterms:created xsi:type="dcterms:W3CDTF">2013-01-27T09:14:16Z</dcterms:created>
  <dcterms:modified xsi:type="dcterms:W3CDTF">2026-01-26T06:19:20Z</dcterms:modified>
  <cp:category/>
</cp:coreProperties>
</file>